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70" r:id="rId10"/>
    <p:sldId id="271" r:id="rId11"/>
    <p:sldId id="272" r:id="rId12"/>
    <p:sldId id="26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458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61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" y="1259421"/>
            <a:ext cx="2139553" cy="264319"/>
          </a:xfrm>
          <a:prstGeom prst="rect">
            <a:avLst/>
          </a:prstGeom>
          <a:solidFill>
            <a:srgbClr val="1A3628"/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1259421"/>
            <a:ext cx="2139553" cy="264319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9F6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 PROGRAMMING PROJECT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2900" y="1752340"/>
            <a:ext cx="4114800" cy="956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6400"/>
              </a:lnSpc>
              <a:buNone/>
            </a:pPr>
            <a:r>
              <a:rPr lang="en-US" sz="3200" b="1" dirty="0">
                <a:solidFill>
                  <a:srgbClr val="1A362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Weekly Meal Plan &amp; Grocery Generator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42900" y="2880382"/>
            <a:ext cx="37147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practical Java project that turns meal preferences into a thoughtfully organized weekly menu and shopping list.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00600" y="714375"/>
            <a:ext cx="4000500" cy="3714750"/>
          </a:xfrm>
          <a:prstGeom prst="rect">
            <a:avLst/>
          </a:prstGeom>
          <a:solidFill>
            <a:srgbClr val="EAE6DF"/>
          </a:solidFill>
          <a:ln w="9144">
            <a:solidFill>
              <a:srgbClr val="8A9A86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038" y="785813"/>
            <a:ext cx="3843338" cy="3557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15363" y="4679156"/>
            <a:ext cx="1857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53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{ 1 }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362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Presented by: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742950" y="1755577"/>
            <a:ext cx="60293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Nikhil Srivatsa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2950" y="2123480"/>
            <a:ext cx="602932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1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2620090029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42950" y="2619970"/>
            <a:ext cx="60293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Sai Hitesh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2950" y="2987873"/>
            <a:ext cx="602932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1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2620030269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2950" y="3484364"/>
            <a:ext cx="60293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Sai Thanush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2950" y="3852267"/>
            <a:ext cx="602932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1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2620040075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93931" y="4679156"/>
            <a:ext cx="2071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53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{ 2 }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Abstract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2900" y="1160525"/>
            <a:ext cx="6429375" cy="3383180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160525"/>
            <a:ext cx="42863" cy="33831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6" name="Text 3"/>
          <p:cNvSpPr/>
          <p:nvPr/>
        </p:nvSpPr>
        <p:spPr>
          <a:xfrm>
            <a:off x="628650" y="1446275"/>
            <a:ext cx="585787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introduces an </a:t>
            </a:r>
            <a:r>
              <a:rPr lang="en-US" sz="12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nutrition and shopping system</a:t>
            </a:r>
            <a:r>
              <a:rPr lang="en-US" sz="12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designed to eliminate meal-planning fatigue. By leveraging foundational Java modules, the application processes user-defined calorie goals and dietary constraints to generate a structured seven-day plan.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8650" y="2714960"/>
            <a:ext cx="5857875" cy="137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utilizes </a:t>
            </a:r>
            <a:r>
              <a:rPr lang="en-US" sz="12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object-oriented design</a:t>
            </a:r>
            <a:r>
              <a:rPr lang="en-US" sz="12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recipe management, </a:t>
            </a:r>
            <a:r>
              <a:rPr lang="en-US" sz="12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modern File I/O</a:t>
            </a:r>
            <a:r>
              <a:rPr lang="en-US" sz="12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data persistence, and </a:t>
            </a:r>
            <a:r>
              <a:rPr lang="en-US" sz="12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 streams</a:t>
            </a:r>
            <a:r>
              <a:rPr lang="en-US" sz="12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real-time reporting. The final deliverable is an integrated console-based application that outputs consolidated grocery lists and daily meal schedules tailored to individual needs.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93931" y="4679156"/>
            <a:ext cx="2071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53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{ 3 }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 &amp; Project Goal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2900" y="903684"/>
            <a:ext cx="4000500" cy="2068116"/>
          </a:xfrm>
          <a:prstGeom prst="rect">
            <a:avLst/>
          </a:prstGeom>
          <a:solidFill>
            <a:srgbClr val="EAE6DF"/>
          </a:solidFill>
          <a:ln w="9144">
            <a:solidFill>
              <a:srgbClr val="8A9A8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132284"/>
            <a:ext cx="35433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2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 Challenges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1500" y="1571625"/>
            <a:ext cx="35433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fatigue in daily meal selection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860947"/>
            <a:ext cx="35433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grocery list compilation leading to errors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150269"/>
            <a:ext cx="35433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nutritional tracking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439591"/>
            <a:ext cx="35433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waste from uncoordinated shopping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903684"/>
            <a:ext cx="4000500" cy="2068116"/>
          </a:xfrm>
          <a:prstGeom prst="rect">
            <a:avLst/>
          </a:prstGeom>
          <a:solidFill>
            <a:srgbClr val="EAE6DF"/>
          </a:solidFill>
          <a:ln w="9144">
            <a:solidFill>
              <a:srgbClr val="8A9A8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1132284"/>
            <a:ext cx="35433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2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Solution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1571625"/>
            <a:ext cx="35433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Algorithmic meal plan generation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0" y="1860947"/>
            <a:ext cx="35433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Automated, consolidated shopping lists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0" y="2150269"/>
            <a:ext cx="35433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Recipe data persistence and retrieval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0" y="2439591"/>
            <a:ext cx="35433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Constraint-based planning (dietary/budget)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590359" y="4679156"/>
            <a:ext cx="2107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53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{ 4 }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Preferences to a Weekly Plan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85838" y="2101323"/>
            <a:ext cx="714375" cy="714375"/>
          </a:xfrm>
          <a:prstGeom prst="ellipse">
            <a:avLst/>
          </a:prstGeom>
          <a:solidFill>
            <a:srgbClr val="8A9A86"/>
          </a:solidFill>
          <a:ln w="27432">
            <a:solidFill>
              <a:srgbClr val="1A362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5838" y="2101323"/>
            <a:ext cx="714375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F6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5775" y="2987148"/>
            <a:ext cx="17145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5775" y="3265754"/>
            <a:ext cx="17145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Dietary preferences, calorie targets, and available pantry items.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43150" y="2552105"/>
            <a:ext cx="1228725" cy="28575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Shape 6"/>
          <p:cNvSpPr/>
          <p:nvPr/>
        </p:nvSpPr>
        <p:spPr>
          <a:xfrm>
            <a:off x="4214813" y="2181355"/>
            <a:ext cx="714375" cy="714375"/>
          </a:xfrm>
          <a:prstGeom prst="ellipse">
            <a:avLst/>
          </a:prstGeom>
          <a:solidFill>
            <a:srgbClr val="8A9A86"/>
          </a:solidFill>
          <a:ln w="27432">
            <a:solidFill>
              <a:srgbClr val="1A36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14813" y="2181355"/>
            <a:ext cx="714375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F6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714750" y="3067180"/>
            <a:ext cx="17145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714750" y="3345786"/>
            <a:ext cx="1714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 selects recipes and scales portions for the week.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572125" y="2552105"/>
            <a:ext cx="1228725" cy="28575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4" name="Shape 11"/>
          <p:cNvSpPr/>
          <p:nvPr/>
        </p:nvSpPr>
        <p:spPr>
          <a:xfrm>
            <a:off x="7443788" y="2101323"/>
            <a:ext cx="714375" cy="714375"/>
          </a:xfrm>
          <a:prstGeom prst="ellipse">
            <a:avLst/>
          </a:prstGeom>
          <a:solidFill>
            <a:srgbClr val="8A9A86"/>
          </a:solidFill>
          <a:ln w="27432">
            <a:solidFill>
              <a:srgbClr val="1A36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43788" y="2101323"/>
            <a:ext cx="714375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F6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43725" y="2987148"/>
            <a:ext cx="17145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43725" y="3265754"/>
            <a:ext cx="17145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7-day meal calendar and a categorized grocery list.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597503" y="4679156"/>
            <a:ext cx="20359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53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{ 5 }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2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Putting it Together · Demo &amp; Learning Outcomes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2900" y="903684"/>
            <a:ext cx="2705081" cy="3150394"/>
          </a:xfrm>
          <a:prstGeom prst="rect">
            <a:avLst/>
          </a:prstGeom>
          <a:solidFill>
            <a:srgbClr val="EAE6DF"/>
          </a:solidFill>
          <a:ln w="9144">
            <a:solidFill>
              <a:srgbClr val="8A9A8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4350" y="1075134"/>
            <a:ext cx="2362181" cy="30003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2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14350" y="1489472"/>
            <a:ext cx="23621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Controller: User interaction logic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4350" y="1714500"/>
            <a:ext cx="23621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Service: Planning &amp; Grocery logic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14350" y="1939528"/>
            <a:ext cx="23621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Repository: File-based recipe storage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14350" y="2164556"/>
            <a:ext cx="23621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Domain: Recipe &amp; Meal Plan models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19431" y="903684"/>
            <a:ext cx="2705081" cy="3150394"/>
          </a:xfrm>
          <a:prstGeom prst="rect">
            <a:avLst/>
          </a:prstGeom>
          <a:solidFill>
            <a:srgbClr val="EAE6DF"/>
          </a:solidFill>
          <a:ln w="9144">
            <a:solidFill>
              <a:srgbClr val="8A9A8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90881" y="1075134"/>
            <a:ext cx="2362181" cy="30003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2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Example Flow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90881" y="1489472"/>
            <a:ext cx="23621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Load recipe library from disk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390881" y="1714500"/>
            <a:ext cx="23621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Scan user calorie/diet inputs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90881" y="1939528"/>
            <a:ext cx="23621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Execute generation algorithm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390881" y="2164556"/>
            <a:ext cx="23621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Export plan to text report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95963" y="903684"/>
            <a:ext cx="2705081" cy="3150394"/>
          </a:xfrm>
          <a:prstGeom prst="rect">
            <a:avLst/>
          </a:prstGeom>
          <a:solidFill>
            <a:srgbClr val="EAE6DF"/>
          </a:solidFill>
          <a:ln w="9144">
            <a:solidFill>
              <a:srgbClr val="8A9A8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7413" y="1075134"/>
            <a:ext cx="2362181" cy="30003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2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Evidence of Learning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67413" y="1489472"/>
            <a:ext cx="23621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use of Streams &amp; APIs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267413" y="1714500"/>
            <a:ext cx="23621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OOP design principles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267413" y="1939528"/>
            <a:ext cx="23621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memory management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267413" y="2164556"/>
            <a:ext cx="23621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D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error handling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42900" y="4339828"/>
            <a:ext cx="8458200" cy="460772"/>
          </a:xfrm>
          <a:prstGeom prst="rect">
            <a:avLst/>
          </a:prstGeom>
          <a:solidFill>
            <a:srgbClr val="1A3628"/>
          </a:solidFill>
          <a:ln/>
        </p:spPr>
      </p:sp>
      <p:sp>
        <p:nvSpPr>
          <p:cNvPr id="23" name="Text 20"/>
          <p:cNvSpPr/>
          <p:nvPr/>
        </p:nvSpPr>
        <p:spPr>
          <a:xfrm>
            <a:off x="342900" y="4339828"/>
            <a:ext cx="8458200" cy="4607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Deliverable: Integrated Java Application providing a seamless Meal Planning experience.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551069" y="4679156"/>
            <a:ext cx="250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53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{ 12 }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" y="13716"/>
            <a:ext cx="9114282" cy="5116068"/>
          </a:xfrm>
          <a:prstGeom prst="rect">
            <a:avLst/>
          </a:prstGeom>
          <a:noFill/>
          <a:ln w="1397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80060" y="329184"/>
            <a:ext cx="5402248" cy="2885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875" b="1">
                <a:solidFill>
                  <a:srgbClr val="EF4444"/>
                </a:solidFill>
                <a:latin typeface="Aptos"/>
              </a:rPr>
              <a:t>CO1 · Computational Thinking &amp; Java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" y="960120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624078" y="946404"/>
            <a:ext cx="167295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Problem Solving &amp;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078" y="1241297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Break the meal-planning task into clear steps: collect preferences, select meals, and generate a weekly plan.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" y="2139696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24078" y="2125980"/>
            <a:ext cx="158921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Data Types &amp;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078" y="2420874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Represent people and menu choices with integers, grocery quantities and prices with decimal values, and preferences with text or Boolean values.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" y="3319272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624078" y="3305556"/>
            <a:ext cx="164628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Console Input &amp;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" y="3600450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Read the user's choices and display the weekly plan and grocery-cost summary in a clear format.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857250"/>
            <a:ext cx="3737610" cy="3874770"/>
          </a:xfrm>
          <a:prstGeom prst="rect">
            <a:avLst/>
          </a:prstGeom>
          <a:solidFill>
            <a:srgbClr val="EBE7DF"/>
          </a:solidFill>
          <a:ln w="13970">
            <a:solidFill>
              <a:srgbClr val="849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5184648" y="1049274"/>
            <a:ext cx="1271182" cy="1154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750" b="1">
                <a:solidFill>
                  <a:srgbClr val="465F54"/>
                </a:solidFill>
                <a:latin typeface="Aptos"/>
              </a:rPr>
              <a:t>EXAMPLE · READ USER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385317"/>
            <a:ext cx="2891817" cy="15647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Scanner sc = new Scanner(System.in);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System.out.print("Number of people: ");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int people = sc.nextInt();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System.out.print("Food preference (1-3): ");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int preference = sc.nextInt();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System.out.printf("People: %d%n", people);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4897" y="4608576"/>
            <a:ext cx="125035" cy="923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b="1">
                <a:solidFill>
                  <a:srgbClr val="EF4444"/>
                </a:solidFill>
                <a:latin typeface="Aptos"/>
              </a:rPr>
              <a:t>{ 1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" y="13716"/>
            <a:ext cx="9114282" cy="5116068"/>
          </a:xfrm>
          <a:prstGeom prst="rect">
            <a:avLst/>
          </a:prstGeom>
          <a:noFill/>
          <a:ln w="1397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80060" y="329184"/>
            <a:ext cx="4379340" cy="2885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875" b="1">
                <a:solidFill>
                  <a:srgbClr val="EF4444"/>
                </a:solidFill>
                <a:latin typeface="Aptos"/>
              </a:rPr>
              <a:t>CO2 · Control Flow: Selection &amp; Iteration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" y="960120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624079" y="946404"/>
            <a:ext cx="151964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Conditional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078" y="1241297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Choose vegetarian, non-vegetarian, or mixed menus by checking the user's preference.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" y="2139696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24078" y="2125980"/>
            <a:ext cx="110645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Input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078" y="2420874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Check that entered choices fall within the allowed range before accepting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" y="3319272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624078" y="3305556"/>
            <a:ext cx="13219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Loops &amp; Repetition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" y="3600450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Repeat the meal-selection process for each day of the week and keep asking until input is valid.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857250"/>
            <a:ext cx="3737610" cy="3874770"/>
          </a:xfrm>
          <a:prstGeom prst="rect">
            <a:avLst/>
          </a:prstGeom>
          <a:solidFill>
            <a:srgbClr val="EBE7DF"/>
          </a:solidFill>
          <a:ln w="13970">
            <a:solidFill>
              <a:srgbClr val="849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5184648" y="1049274"/>
            <a:ext cx="1651093" cy="1154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750" b="1">
                <a:solidFill>
                  <a:srgbClr val="465F54"/>
                </a:solidFill>
                <a:latin typeface="Aptos"/>
              </a:rPr>
              <a:t>EXAMPLE · VALIDATE A MENU CHOICE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9" y="1385317"/>
            <a:ext cx="3088987" cy="176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while (true) {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System.out.print("Breakfast choice: ");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int choice = sc.nextInt();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if (choice &gt;= 1 &amp;&amp; choice &lt;= menu.size()) {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    break;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}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System.out.println("Invalid choice!");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4897" y="4608576"/>
            <a:ext cx="125035" cy="923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b="1">
                <a:solidFill>
                  <a:srgbClr val="EF4444"/>
                </a:solidFill>
                <a:latin typeface="Aptos"/>
              </a:rPr>
              <a:t>{ 2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" y="13716"/>
            <a:ext cx="9114282" cy="5116068"/>
          </a:xfrm>
          <a:prstGeom prst="rect">
            <a:avLst/>
          </a:prstGeom>
          <a:noFill/>
          <a:ln w="1397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80060" y="329184"/>
            <a:ext cx="4346318" cy="2885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875" b="1">
                <a:solidFill>
                  <a:srgbClr val="EF4444"/>
                </a:solidFill>
                <a:latin typeface="Aptos"/>
              </a:rPr>
              <a:t>CO3 · Methods, Decomposition &amp; Arrays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" y="960120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624078" y="946404"/>
            <a:ext cx="154394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Modular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078" y="1241297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Separate tasks into methods so menu creation, input validation, ingredient calculation, and printing can be managed independently.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" y="2139696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24078" y="2125980"/>
            <a:ext cx="158658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Methods &amp;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078" y="2420874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Pass meal names and the number of people to methods that calculate the required ingredients.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" y="3319272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624078" y="3305556"/>
            <a:ext cx="124187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Arrays &amp; Traversal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" y="3600450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Store the days of the week and selected meals, then process each day's breakfast, lunch, and dinner.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857250"/>
            <a:ext cx="3737610" cy="3874770"/>
          </a:xfrm>
          <a:prstGeom prst="rect">
            <a:avLst/>
          </a:prstGeom>
          <a:solidFill>
            <a:srgbClr val="EBE7DF"/>
          </a:solidFill>
          <a:ln w="13970">
            <a:solidFill>
              <a:srgbClr val="849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5184648" y="1049274"/>
            <a:ext cx="1343316" cy="1154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750" b="1">
                <a:solidFill>
                  <a:srgbClr val="465F54"/>
                </a:solidFill>
                <a:latin typeface="Aptos"/>
              </a:rPr>
              <a:t>EXAMPLE · PROCESS ALL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9" y="1385317"/>
            <a:ext cx="2497479" cy="15647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String[] days = {"Monday", "Tuesday",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"Wednesday", "Thursday", "Friday",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"Saturday", "Sunday"};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for (int i = 0; i &lt; 7; i++) {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System.out.println(days[i] + ":");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// Read meal choices for the day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4897" y="4608576"/>
            <a:ext cx="125035" cy="923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b="1">
                <a:solidFill>
                  <a:srgbClr val="EF4444"/>
                </a:solidFill>
                <a:latin typeface="Aptos"/>
              </a:rPr>
              <a:t>{ 3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" y="13716"/>
            <a:ext cx="9114282" cy="5116068"/>
          </a:xfrm>
          <a:prstGeom prst="rect">
            <a:avLst/>
          </a:prstGeom>
          <a:noFill/>
          <a:ln w="1397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80061" y="329184"/>
            <a:ext cx="4555927" cy="2885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875" b="1">
                <a:solidFill>
                  <a:srgbClr val="EF4444"/>
                </a:solidFill>
                <a:latin typeface="Aptos"/>
              </a:rPr>
              <a:t>CO4 · Object-Oriented Modelling &amp;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" y="960120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624078" y="946404"/>
            <a:ext cx="128214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Classes &amp;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078" y="1241297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Use a class to organize the meal planner's data and operations, and objects to work with Java library types.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" y="2139696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24078" y="2125980"/>
            <a:ext cx="188243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Static Members &amp;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078" y="2420874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Share common program data and utility methods across the meal-planning workflow.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" y="3319272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624078" y="3305556"/>
            <a:ext cx="208627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Interfaces &amp; Implementations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" y="3600450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Use the Map interface with implementations such as HashMap and TreeMap to organize grocery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857250"/>
            <a:ext cx="3737610" cy="3874770"/>
          </a:xfrm>
          <a:prstGeom prst="rect">
            <a:avLst/>
          </a:prstGeom>
          <a:solidFill>
            <a:srgbClr val="EBE7DF"/>
          </a:solidFill>
          <a:ln w="13970">
            <a:solidFill>
              <a:srgbClr val="849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5184648" y="1049274"/>
            <a:ext cx="1716817" cy="1154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750" b="1">
                <a:solidFill>
                  <a:srgbClr val="465F54"/>
                </a:solidFill>
                <a:latin typeface="Aptos"/>
              </a:rPr>
              <a:t>EXAMPLE · MAP-BASED GROCERY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385317"/>
            <a:ext cx="2234586" cy="176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Map&lt;String, Double&gt; prices =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new HashMap&lt;&gt;();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prices.put("Rice (kg)", 60.0);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prices.put("Paneer (kg)", 350.0);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Map&lt;String, Double&gt; groceryList =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new TreeMap&lt;&gt;();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groceryList.put("Rice (kg)", 1.2);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4897" y="4608576"/>
            <a:ext cx="125035" cy="923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b="1">
                <a:solidFill>
                  <a:srgbClr val="EF4444"/>
                </a:solidFill>
                <a:latin typeface="Aptos"/>
              </a:rPr>
              <a:t>{ 4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" y="13716"/>
            <a:ext cx="9114282" cy="5116068"/>
          </a:xfrm>
          <a:prstGeom prst="rect">
            <a:avLst/>
          </a:prstGeom>
          <a:noFill/>
          <a:ln w="1397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80061" y="329184"/>
            <a:ext cx="5469639" cy="2885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875" b="1">
                <a:solidFill>
                  <a:srgbClr val="EF4444"/>
                </a:solidFill>
                <a:latin typeface="Aptos"/>
              </a:rPr>
              <a:t>CO5 · Strings, Library Algorithms &amp; Text 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" y="960120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624078" y="946404"/>
            <a:ext cx="121828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String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078" y="1241297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Inspect meal names to identify ingredients and decide which grocery items should be added.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" y="2139696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24078" y="2125980"/>
            <a:ext cx="163435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Searching &amp; Formatting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078" y="2420874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Search text with string methods and format quantities, prices, and totals into readable columns.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" y="3319272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624078" y="3305556"/>
            <a:ext cx="98828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Sorted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" y="3600450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Keep grocery items alphabetically ordered by using a TreeMap, making the combined list easier to read.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857250"/>
            <a:ext cx="3737610" cy="3874770"/>
          </a:xfrm>
          <a:prstGeom prst="rect">
            <a:avLst/>
          </a:prstGeom>
          <a:solidFill>
            <a:srgbClr val="EBE7DF"/>
          </a:solidFill>
          <a:ln w="13970">
            <a:solidFill>
              <a:srgbClr val="849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5184648" y="1049274"/>
            <a:ext cx="1510029" cy="1154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750" b="1">
                <a:solidFill>
                  <a:srgbClr val="465F54"/>
                </a:solidFill>
                <a:latin typeface="Aptos"/>
              </a:rPr>
              <a:t>EXAMPLE · IDENTIFY INGREDIENTS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385317"/>
            <a:ext cx="2694648" cy="176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String meal = selectedMeal.toLowerCase();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if (meal.contains("paneer")) {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addItem("Paneer (kg)",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    0.10 * people);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System.out.printf("%-20s Rs. %.2f%n",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item, cost);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4897" y="4608576"/>
            <a:ext cx="125035" cy="923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b="1">
                <a:solidFill>
                  <a:srgbClr val="EF4444"/>
                </a:solidFill>
                <a:latin typeface="Aptos"/>
              </a:rPr>
              <a:t>{ 5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" y="13716"/>
            <a:ext cx="9114282" cy="5116068"/>
          </a:xfrm>
          <a:prstGeom prst="rect">
            <a:avLst/>
          </a:prstGeom>
          <a:noFill/>
          <a:ln w="1397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80060" y="329184"/>
            <a:ext cx="4159408" cy="2885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875" b="1">
                <a:solidFill>
                  <a:srgbClr val="EF4444"/>
                </a:solidFill>
                <a:latin typeface="Aptos"/>
              </a:rPr>
              <a:t>CO6 · Collections &amp; Data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" y="960120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624079" y="946404"/>
            <a:ext cx="16243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Collections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078" y="1241297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Store menu options in resizable lists and maintain grocery quantities and prices as key-value pairs.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" y="2139696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24078" y="2125980"/>
            <a:ext cx="15980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Generics &amp; Type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078" y="2420874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Specify types such as ArrayList&lt;String&gt; and Map&lt;String, Double&gt; to reduce accidental type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" y="3319272"/>
            <a:ext cx="24003" cy="630936"/>
          </a:xfrm>
          <a:prstGeom prst="rect">
            <a:avLst/>
          </a:prstGeom>
          <a:solidFill>
            <a:srgbClr val="899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624078" y="3305556"/>
            <a:ext cx="159152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23E2F"/>
                </a:solidFill>
                <a:latin typeface="Aptos"/>
              </a:rPr>
              <a:t>Iteration &amp; 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" y="3600450"/>
            <a:ext cx="4080510" cy="49377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7500"/>
          </a:bodyPr>
          <a:lstStyle/>
          <a:p>
            <a:r>
              <a:rPr sz="923">
                <a:solidFill>
                  <a:srgbClr val="435B50"/>
                </a:solidFill>
                <a:latin typeface="Aptos"/>
              </a:rPr>
              <a:t>Traverse grocery entries, combine repeated ingredients, and calculate the total shopping cost.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857250"/>
            <a:ext cx="3737610" cy="3874770"/>
          </a:xfrm>
          <a:prstGeom prst="rect">
            <a:avLst/>
          </a:prstGeom>
          <a:solidFill>
            <a:srgbClr val="EBE7DF"/>
          </a:solidFill>
          <a:ln w="13970">
            <a:solidFill>
              <a:srgbClr val="849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5184648" y="1049274"/>
            <a:ext cx="1917192" cy="1154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750" b="1">
                <a:solidFill>
                  <a:srgbClr val="465F54"/>
                </a:solidFill>
                <a:latin typeface="Aptos"/>
              </a:rPr>
              <a:t>EXAMPLE · COMBINE GROCERY QUANTITIES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9" y="1385317"/>
            <a:ext cx="2826095" cy="21734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static void addItem(String item,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                double quantity) {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groceryList.put(item,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    groceryList.getOrDefault(item, 0.0)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    + quantity);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for (Map.Entry&lt;String, Double&gt; entry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    : groceryList.entrySet()) {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    // Calculate each item's cost</a:t>
            </a:r>
          </a:p>
          <a:p>
            <a:pPr>
              <a:lnSpc>
                <a:spcPct val="105000"/>
              </a:lnSpc>
              <a:spcAft>
                <a:spcPts val="375"/>
              </a:spcAft>
            </a:pPr>
            <a:r>
              <a:rPr sz="938">
                <a:solidFill>
                  <a:srgbClr val="14382B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4897" y="4608576"/>
            <a:ext cx="125035" cy="923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b="1">
                <a:solidFill>
                  <a:srgbClr val="EF4444"/>
                </a:solidFill>
                <a:latin typeface="Aptos"/>
              </a:rPr>
              <a:t>{ 6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1143</Words>
  <Application>Microsoft Office PowerPoint</Application>
  <PresentationFormat>On-screen Show (16:9)</PresentationFormat>
  <Paragraphs>171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Consolas</vt:lpstr>
      <vt:lpstr>Inter</vt:lpstr>
      <vt:lpstr>Inter Bold</vt:lpstr>
      <vt:lpstr>Playfair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Srivatsa</cp:lastModifiedBy>
  <cp:revision>2</cp:revision>
  <dcterms:created xsi:type="dcterms:W3CDTF">2026-10-13T14:18:50Z</dcterms:created>
  <dcterms:modified xsi:type="dcterms:W3CDTF">2026-10-14T05:47:07Z</dcterms:modified>
</cp:coreProperties>
</file>